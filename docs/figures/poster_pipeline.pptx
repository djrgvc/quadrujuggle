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</a:rPr>
              <a:t>QuadruJuggle — Hierarchical Control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914400"/>
            <a:ext cx="2011680" cy="1005840"/>
          </a:xfrm>
          <a:prstGeom prst="roundRect">
            <a:avLst/>
          </a:prstGeom>
          <a:solidFill>
            <a:srgbClr val="F5F5F5"/>
          </a:solidFill>
          <a:ln w="2286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616161"/>
                </a:solidFill>
              </a:rPr>
              <a:t>Ball Sensor</a:t>
            </a:r>
          </a:p>
          <a:p>
            <a:pPr algn="ctr"/>
            <a:r>
              <a:rPr sz="900" b="0">
                <a:solidFill>
                  <a:srgbClr val="616161"/>
                </a:solidFill>
              </a:rPr>
              <a:t>Camera / depth
raw pos (noisy)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2286000"/>
            <a:ext cx="2011680" cy="1005840"/>
          </a:xfrm>
          <a:prstGeom prst="roundRect">
            <a:avLst/>
          </a:prstGeom>
          <a:solidFill>
            <a:srgbClr val="F3E5F5"/>
          </a:solidFill>
          <a:ln w="228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6A1B9A"/>
                </a:solidFill>
              </a:rPr>
              <a:t>Kalman Filter</a:t>
            </a:r>
          </a:p>
          <a:p>
            <a:pPr algn="ctr"/>
            <a:r>
              <a:rPr sz="900" b="0">
                <a:solidFill>
                  <a:srgbClr val="616161"/>
                </a:solidFill>
              </a:rPr>
              <a:t>position + velocity
estimation @ 200 Hz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34440" y="1920240"/>
            <a:ext cx="0" cy="365760"/>
          </a:xfrm>
          <a:prstGeom prst="line">
            <a:avLst/>
          </a:prstGeom>
          <a:ln w="22860">
            <a:solidFill>
              <a:srgbClr val="61616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6032" y="1938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16161"/>
                </a:solidFill>
              </a:rPr>
              <a:t>noisy pos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914400"/>
            <a:ext cx="5029200" cy="2743200"/>
          </a:xfrm>
          <a:prstGeom prst="rect">
            <a:avLst/>
          </a:prstGeom>
          <a:noFill/>
          <a:ln w="19050">
            <a:solidFill>
              <a:srgbClr val="1976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960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976D2"/>
                </a:solidFill>
              </a:rPr>
              <a:t>Pi1 — High-Level Planner  (choose one)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417320"/>
            <a:ext cx="2194560" cy="1508760"/>
          </a:xfrm>
          <a:prstGeom prst="roundRect">
            <a:avLst/>
          </a:prstGeom>
          <a:solidFill>
            <a:srgbClr val="E8F5E9"/>
          </a:solidFill>
          <a:ln w="2286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388E3C"/>
                </a:solidFill>
              </a:rPr>
              <a:t>Mirror Law</a:t>
            </a:r>
          </a:p>
          <a:p>
            <a:pPr algn="ctr"/>
            <a:r>
              <a:rPr sz="900" b="0">
                <a:solidFill>
                  <a:srgbClr val="616161"/>
                </a:solidFill>
              </a:rPr>
              <a:t>Analytic geometry
n̂ = norm(v_out/e − v_in)
roll/pitch → 6D cmd
(zero training needed)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920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16161"/>
                </a:solidFill>
              </a:rPr>
              <a:t>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417320"/>
            <a:ext cx="2011680" cy="1508760"/>
          </a:xfrm>
          <a:prstGeom prst="roundRect">
            <a:avLst/>
          </a:prstGeom>
          <a:solidFill>
            <a:srgbClr val="FFF3E0"/>
          </a:solidFill>
          <a:ln w="2286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57C00"/>
                </a:solidFill>
              </a:rPr>
              <a:t>Learned Pi1 (RL)</a:t>
            </a:r>
          </a:p>
          <a:p>
            <a:pPr algn="ctr"/>
            <a:r>
              <a:rPr sz="900" b="0">
                <a:solidFill>
                  <a:srgbClr val="616161"/>
                </a:solidFill>
              </a:rPr>
              <a:t>PPO policy
46D obs → 6D cmd
apex curriculum
[0.10–0.60 m]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3017520"/>
            <a:ext cx="4389120" cy="530352"/>
          </a:xfrm>
          <a:prstGeom prst="roundRect">
            <a:avLst/>
          </a:prstGeom>
          <a:solidFill>
            <a:srgbClr val="E1F5FE"/>
          </a:solidFill>
          <a:ln w="2286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0" sz="950">
                <a:solidFill>
                  <a:srgbClr val="1976D2"/>
                </a:solidFill>
              </a:rPr>
              <a:t>Hybrid Switch: Pi1 builds energy  →  Mirror Law holds height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40280" y="2788920"/>
            <a:ext cx="338328" cy="0"/>
          </a:xfrm>
          <a:prstGeom prst="line">
            <a:avLst/>
          </a:prstGeom>
          <a:ln w="22860">
            <a:solidFill>
              <a:srgbClr val="6A1B9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28163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A1B9A"/>
                </a:solidFill>
              </a:rPr>
              <a:t>ball state (46D obs)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94760" y="2926080"/>
            <a:ext cx="0" cy="621792"/>
          </a:xfrm>
          <a:prstGeom prst="line">
            <a:avLst/>
          </a:prstGeom>
          <a:ln w="22860">
            <a:solidFill>
              <a:srgbClr val="388E3C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00800" y="2926080"/>
            <a:ext cx="0" cy="365760"/>
          </a:xfrm>
          <a:prstGeom prst="line">
            <a:avLst/>
          </a:prstGeom>
          <a:ln w="22860">
            <a:solidFill>
              <a:srgbClr val="F57C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069080" y="3291840"/>
            <a:ext cx="2331720" cy="256032"/>
          </a:xfrm>
          <a:prstGeom prst="line">
            <a:avLst/>
          </a:prstGeom>
          <a:ln w="22860">
            <a:solidFill>
              <a:srgbClr val="F57C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743200" y="3749039"/>
            <a:ext cx="4846320" cy="1097280"/>
          </a:xfrm>
          <a:prstGeom prst="roundRect">
            <a:avLst/>
          </a:prstGeom>
          <a:solidFill>
            <a:srgbClr val="E3F2FD"/>
          </a:solidFill>
          <a:ln w="2286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1976D2"/>
                </a:solidFill>
              </a:rPr>
              <a:t>Pi2 — Torso Tracker  (frozen)</a:t>
            </a:r>
          </a:p>
          <a:p>
            <a:pPr algn="ctr"/>
            <a:r>
              <a:rPr sz="900" b="0">
                <a:solidFill>
                  <a:srgbClr val="616161"/>
                </a:solidFill>
              </a:rPr>
              <a:t>Pre-trained RL policy  |  6D torso cmd → 12D joint targets  |  ~200M steps, never retrained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66360" y="3566160"/>
            <a:ext cx="0" cy="182879"/>
          </a:xfrm>
          <a:prstGeom prst="line">
            <a:avLst/>
          </a:prstGeom>
          <a:ln w="22860">
            <a:solidFill>
              <a:srgbClr val="1976D2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93792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976D2"/>
                </a:solidFill>
              </a:rPr>
              <a:t>6D torso cmd  (h, ḣ, roll, pitch, vx, vy)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645920"/>
            <a:ext cx="3474720" cy="1188720"/>
          </a:xfrm>
          <a:prstGeom prst="roundRect">
            <a:avLst/>
          </a:prstGeom>
          <a:solidFill>
            <a:srgbClr val="F5F5F5"/>
          </a:solidFill>
          <a:ln w="2286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616161"/>
                </a:solidFill>
              </a:rPr>
              <a:t>Go1 Robot</a:t>
            </a:r>
          </a:p>
          <a:p>
            <a:pPr algn="ctr"/>
            <a:r>
              <a:rPr sz="900" b="0">
                <a:solidFill>
                  <a:srgbClr val="616161"/>
                </a:solidFill>
              </a:rPr>
              <a:t>12-DOF quadruped
PD control @ 200 Hz
custom paddle attachment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7589520" y="2834640"/>
            <a:ext cx="2926080" cy="1463040"/>
          </a:xfrm>
          <a:prstGeom prst="line">
            <a:avLst/>
          </a:prstGeom>
          <a:ln w="22860">
            <a:solidFill>
              <a:srgbClr val="61616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8096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16161"/>
                </a:solidFill>
              </a:rPr>
              <a:t>12D joint targets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3200400"/>
            <a:ext cx="2560320" cy="914400"/>
          </a:xfrm>
          <a:prstGeom prst="roundRect">
            <a:avLst/>
          </a:prstGeom>
          <a:solidFill>
            <a:srgbClr val="FFF3E0"/>
          </a:solidFill>
          <a:ln w="2286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57C00"/>
                </a:solidFill>
              </a:rPr>
              <a:t>Ball</a:t>
            </a:r>
          </a:p>
          <a:p>
            <a:pPr algn="ctr"/>
            <a:r>
              <a:rPr sz="900" b="0">
                <a:solidFill>
                  <a:srgbClr val="616161"/>
                </a:solidFill>
              </a:rPr>
              <a:t>m = 50 g  |  e = 0.85
physical bouncing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58400" y="2834640"/>
            <a:ext cx="0" cy="365760"/>
          </a:xfrm>
          <a:prstGeom prst="line">
            <a:avLst/>
          </a:prstGeom>
          <a:ln w="22860">
            <a:solidFill>
              <a:srgbClr val="F57C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10412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7C00"/>
                </a:solidFill>
              </a:rPr>
              <a:t>paddle impulse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1325880" y="1920240"/>
            <a:ext cx="7452360" cy="1737360"/>
          </a:xfrm>
          <a:prstGeom prst="line">
            <a:avLst/>
          </a:prstGeom>
          <a:ln w="22860">
            <a:solidFill>
              <a:srgbClr val="61616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65760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16161"/>
                </a:solidFill>
              </a:rPr>
              <a:t>← ball trajectory (sensed)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294436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88E3C"/>
                </a:solidFill>
              </a:rPr>
              <a:t>✓ analytic — no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6672" y="29443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7C00"/>
                </a:solidFill>
              </a:rPr>
              <a:t>trained: PPO ~570M steps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8646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976D2"/>
                </a:solidFill>
              </a:rPr>
              <a:t>trained: PPO ~200M steps — shared by all Pi1 variants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